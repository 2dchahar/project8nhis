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73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22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885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3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9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82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6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069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236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6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52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5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226" y="740512"/>
            <a:ext cx="8119871" cy="1049235"/>
          </a:xfrm>
        </p:spPr>
        <p:txBody>
          <a:bodyPr/>
          <a:lstStyle/>
          <a:p>
            <a:r>
              <a:rPr lang="en-US" b="1" dirty="0"/>
              <a:t>	</a:t>
            </a:r>
            <a:r>
              <a:rPr b="1" dirty="0"/>
              <a:t>Job Market Analysis and </a:t>
            </a:r>
            <a:r>
              <a:rPr lang="en-US" b="1" dirty="0"/>
              <a:t>	</a:t>
            </a:r>
            <a:r>
              <a:rPr b="1" dirty="0"/>
              <a:t>Recommendation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227" y="2015733"/>
            <a:ext cx="7990142" cy="3450613"/>
          </a:xfrm>
        </p:spPr>
        <p:txBody>
          <a:bodyPr/>
          <a:lstStyle/>
          <a:p>
            <a:endParaRPr dirty="0"/>
          </a:p>
          <a:p>
            <a:pPr lvl="1"/>
            <a:r>
              <a:rPr sz="2800" b="1" dirty="0"/>
              <a:t>Deriving Insights and Personalizing Career Search using Python and Docker</a:t>
            </a:r>
          </a:p>
          <a:p>
            <a:pPr lvl="1"/>
            <a:r>
              <a:rPr sz="2800" b="1" dirty="0"/>
              <a:t>Presented By: </a:t>
            </a:r>
            <a:r>
              <a:rPr lang="en-US" sz="2800" b="1" dirty="0"/>
              <a:t>Dinesh Chahar</a:t>
            </a:r>
            <a:endParaRPr sz="2800" b="1" dirty="0"/>
          </a:p>
          <a:p>
            <a:pPr lvl="1"/>
            <a:r>
              <a:rPr sz="2800" b="1" dirty="0"/>
              <a:t>Date: </a:t>
            </a:r>
            <a:r>
              <a:rPr lang="en-US" sz="2800" b="1" dirty="0"/>
              <a:t>10-11-2025</a:t>
            </a:r>
            <a:endParaRPr sz="28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257" y="804520"/>
            <a:ext cx="7488936" cy="1049235"/>
          </a:xfrm>
        </p:spPr>
        <p:txBody>
          <a:bodyPr/>
          <a:lstStyle/>
          <a:p>
            <a:r>
              <a:rPr b="1" dirty="0"/>
              <a:t>Project Objectives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2015733"/>
            <a:ext cx="8202167" cy="3450613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/>
              <a:t>Primary Objective: Analyze job market trends and build a recommendation system.</a:t>
            </a:r>
          </a:p>
          <a:p>
            <a:pPr lvl="1"/>
            <a:r>
              <a:rPr sz="2000" dirty="0"/>
              <a:t>Identify high-demand roles; analyze salary trends; build content-based engine; use Docker.</a:t>
            </a:r>
          </a:p>
          <a:p>
            <a:pPr lvl="1"/>
            <a:r>
              <a:rPr sz="2000" dirty="0"/>
              <a:t>Data Source: DataSet.csv</a:t>
            </a:r>
          </a:p>
          <a:p>
            <a:pPr lvl="1"/>
            <a:r>
              <a:rPr sz="2000" dirty="0"/>
              <a:t>Tools: Python, Pandas, Scikit-Learn, Flask,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265" y="804520"/>
            <a:ext cx="7717536" cy="1049235"/>
          </a:xfrm>
        </p:spPr>
        <p:txBody>
          <a:bodyPr/>
          <a:lstStyle/>
          <a:p>
            <a:r>
              <a:rPr b="1" dirty="0"/>
              <a:t>Technology Stack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/>
              <a:t>Pandas: Data processing</a:t>
            </a:r>
          </a:p>
          <a:p>
            <a:pPr lvl="1"/>
            <a:r>
              <a:rPr sz="2000" dirty="0"/>
              <a:t>Scikit-Learn: TF-IDF, Cosine Similarity, Linear Regression</a:t>
            </a:r>
          </a:p>
          <a:p>
            <a:pPr lvl="1"/>
            <a:r>
              <a:rPr sz="2000" dirty="0"/>
              <a:t>Matplotlib/</a:t>
            </a:r>
            <a:r>
              <a:rPr sz="2000" dirty="0" err="1"/>
              <a:t>Plotly</a:t>
            </a:r>
            <a:r>
              <a:rPr sz="2000" dirty="0"/>
              <a:t>: Visualization</a:t>
            </a:r>
          </a:p>
          <a:p>
            <a:pPr lvl="1"/>
            <a:r>
              <a:rPr sz="2000" dirty="0"/>
              <a:t>Flask: API</a:t>
            </a:r>
          </a:p>
          <a:p>
            <a:pPr lvl="1"/>
            <a:r>
              <a:rPr sz="2000" dirty="0"/>
              <a:t>Docker: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04520"/>
            <a:ext cx="9079992" cy="1049235"/>
          </a:xfrm>
        </p:spPr>
        <p:txBody>
          <a:bodyPr/>
          <a:lstStyle/>
          <a:p>
            <a:r>
              <a:rPr b="1" dirty="0"/>
              <a:t>Task 1: Keyword-Salary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113" y="2015733"/>
            <a:ext cx="7607808" cy="3450613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/>
              <a:t>Correlation between title keywords and salary</a:t>
            </a:r>
          </a:p>
          <a:p>
            <a:pPr lvl="1"/>
            <a:r>
              <a:rPr sz="2000" dirty="0"/>
              <a:t>Filtered by keywords and averaged normalized budget</a:t>
            </a:r>
          </a:p>
          <a:p>
            <a:pPr lvl="1"/>
            <a:r>
              <a:rPr sz="2000" dirty="0"/>
              <a:t>Strong correlation between specialization and compensation</a:t>
            </a:r>
          </a:p>
          <a:p>
            <a:pPr lvl="1"/>
            <a:r>
              <a:rPr sz="2000" dirty="0"/>
              <a:t>Insert Bar Chart: Avg Salary by Top Keywords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04" y="804520"/>
            <a:ext cx="7872983" cy="1049235"/>
          </a:xfrm>
        </p:spPr>
        <p:txBody>
          <a:bodyPr/>
          <a:lstStyle/>
          <a:p>
            <a:r>
              <a:rPr b="1" dirty="0"/>
              <a:t>Task 2: Emerging Job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945" y="2015733"/>
            <a:ext cx="7319890" cy="3450613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/>
              <a:t>Tracked monthly posting frequency by emerging keywords</a:t>
            </a:r>
          </a:p>
          <a:p>
            <a:pPr lvl="1"/>
            <a:r>
              <a:rPr sz="2000" dirty="0"/>
              <a:t>AI/ML and React show strongest upward trend</a:t>
            </a:r>
          </a:p>
          <a:p>
            <a:pPr lvl="1"/>
            <a:r>
              <a:rPr sz="2000" dirty="0"/>
              <a:t>Insert Line Chart: Monthly Frequency for AI, React, Full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" y="804520"/>
            <a:ext cx="9052560" cy="1049235"/>
          </a:xfrm>
        </p:spPr>
        <p:txBody>
          <a:bodyPr/>
          <a:lstStyle/>
          <a:p>
            <a:pPr algn="ctr"/>
            <a:r>
              <a:rPr b="1" dirty="0"/>
              <a:t>Task 3 &amp; 8: Forecasting High-Demand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/>
              <a:t>Linear Regression on monthly frequency</a:t>
            </a:r>
          </a:p>
          <a:p>
            <a:pPr lvl="1"/>
            <a:r>
              <a:rPr sz="2000" dirty="0"/>
              <a:t>Example: Sustained growth in Python Developer demand</a:t>
            </a:r>
          </a:p>
          <a:p>
            <a:pPr lvl="1"/>
            <a:r>
              <a:rPr sz="2000" dirty="0"/>
              <a:t>Insert Line Chart: Historical vs Forecasted Postings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" y="804520"/>
            <a:ext cx="8595359" cy="1049235"/>
          </a:xfrm>
        </p:spPr>
        <p:txBody>
          <a:bodyPr/>
          <a:lstStyle/>
          <a:p>
            <a:pPr algn="ctr"/>
            <a:r>
              <a:rPr b="1" dirty="0"/>
              <a:t>Task 4: Global Hourly Rate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/>
              <a:t>Compared average hourly rates by country</a:t>
            </a:r>
          </a:p>
          <a:p>
            <a:pPr lvl="1"/>
            <a:r>
              <a:rPr sz="2000" dirty="0"/>
              <a:t>Significant variation by economic region</a:t>
            </a:r>
          </a:p>
          <a:p>
            <a:pPr lvl="1"/>
            <a:r>
              <a:rPr sz="2000" dirty="0"/>
              <a:t>Insert Map/Bar Chart: Top 10 Countries by Avg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804520"/>
            <a:ext cx="7818120" cy="1049235"/>
          </a:xfrm>
        </p:spPr>
        <p:txBody>
          <a:bodyPr/>
          <a:lstStyle/>
          <a:p>
            <a:r>
              <a:rPr b="1" dirty="0"/>
              <a:t>Task 7: Remote Work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/>
              <a:t>Tracked monthly percentage of 'remote' postings</a:t>
            </a:r>
          </a:p>
          <a:p>
            <a:pPr lvl="1"/>
            <a:r>
              <a:rPr sz="2000" dirty="0"/>
              <a:t>Remote job percentage remains high or increases</a:t>
            </a:r>
          </a:p>
          <a:p>
            <a:pPr lvl="1"/>
            <a:r>
              <a:rPr sz="2000" dirty="0"/>
              <a:t>Insert Line Chart: Remote Job Percentage Over 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" y="804520"/>
            <a:ext cx="8714232" cy="1049235"/>
          </a:xfrm>
        </p:spPr>
        <p:txBody>
          <a:bodyPr/>
          <a:lstStyle/>
          <a:p>
            <a:r>
              <a:rPr b="1" dirty="0"/>
              <a:t>Task 5: Job Recommendation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7005565" cy="3450613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/>
              <a:t>Content-based filtering using TF-IDF + Cosine Similarity</a:t>
            </a:r>
          </a:p>
          <a:p>
            <a:pPr lvl="1"/>
            <a:r>
              <a:rPr sz="2000" dirty="0"/>
              <a:t>Memory-efficient similarity computation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Task 5 Code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/>
              <a:t>Core logic of recommendation function</a:t>
            </a:r>
          </a:p>
          <a:p>
            <a:pPr lvl="1"/>
            <a:r>
              <a:rPr sz="2000" dirty="0"/>
              <a:t>Includes TF-IDF vectorization and similarity computation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804520"/>
            <a:ext cx="8330183" cy="1049235"/>
          </a:xfrm>
        </p:spPr>
        <p:txBody>
          <a:bodyPr/>
          <a:lstStyle/>
          <a:p>
            <a:r>
              <a:rPr b="1" dirty="0"/>
              <a:t>Task 6: Job Market Dashboard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/>
              <a:t>Flask API serving insights and recommendations</a:t>
            </a:r>
          </a:p>
          <a:p>
            <a:pPr lvl="1"/>
            <a:r>
              <a:rPr sz="2000" dirty="0"/>
              <a:t>Endpoint: /</a:t>
            </a:r>
            <a:r>
              <a:rPr sz="2000" dirty="0" err="1"/>
              <a:t>recommend?title</a:t>
            </a:r>
            <a:r>
              <a:rPr sz="2000" dirty="0"/>
              <a:t>=[</a:t>
            </a:r>
            <a:r>
              <a:rPr sz="2000" dirty="0" err="1"/>
              <a:t>JobTitle</a:t>
            </a:r>
            <a:r>
              <a:rPr sz="2000" dirty="0"/>
              <a:t>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Docker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/>
              <a:t>Containerizes environment for consistent deployment</a:t>
            </a:r>
          </a:p>
          <a:p>
            <a:pPr lvl="1"/>
            <a:r>
              <a:rPr sz="2000" dirty="0"/>
              <a:t>Ensures reproducibility across machines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Deployment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 err="1"/>
              <a:t>Dockerfile</a:t>
            </a:r>
            <a:r>
              <a:rPr sz="2000" dirty="0"/>
              <a:t> copies dataset and app</a:t>
            </a:r>
          </a:p>
          <a:p>
            <a:pPr lvl="1"/>
            <a:r>
              <a:rPr sz="2000" dirty="0"/>
              <a:t>Command: docker-compose up --build -d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507" y="804520"/>
            <a:ext cx="6571343" cy="1049235"/>
          </a:xfrm>
        </p:spPr>
        <p:txBody>
          <a:bodyPr/>
          <a:lstStyle/>
          <a:p>
            <a:r>
              <a:rPr b="1" dirty="0"/>
              <a:t>Deployment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000" dirty="0"/>
              <a:t>docker </a:t>
            </a:r>
            <a:r>
              <a:rPr sz="2000" dirty="0" err="1"/>
              <a:t>ps</a:t>
            </a:r>
            <a:r>
              <a:rPr sz="2000" dirty="0"/>
              <a:t> to verify container</a:t>
            </a:r>
          </a:p>
          <a:p>
            <a:pPr lvl="1"/>
            <a:r>
              <a:rPr sz="2000" dirty="0"/>
              <a:t>API accessible via port 5000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804520"/>
            <a:ext cx="7900415" cy="1049235"/>
          </a:xfrm>
        </p:spPr>
        <p:txBody>
          <a:bodyPr/>
          <a:lstStyle/>
          <a:p>
            <a:r>
              <a:rPr b="1" dirty="0"/>
              <a:t>Conclusion and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376" y="2015733"/>
            <a:ext cx="7900415" cy="3450613"/>
          </a:xfrm>
        </p:spPr>
        <p:txBody>
          <a:bodyPr/>
          <a:lstStyle/>
          <a:p>
            <a:endParaRPr dirty="0"/>
          </a:p>
          <a:p>
            <a:pPr lvl="1"/>
            <a:r>
              <a:rPr sz="2000" dirty="0"/>
              <a:t>Shift toward specialized technical roles</a:t>
            </a:r>
          </a:p>
          <a:p>
            <a:pPr lvl="1"/>
            <a:r>
              <a:rPr sz="2000" dirty="0"/>
              <a:t>High global rate variance</a:t>
            </a:r>
          </a:p>
          <a:p>
            <a:pPr lvl="1"/>
            <a:r>
              <a:rPr sz="2000" dirty="0"/>
              <a:t>Future: TensorFlow forecasting, front-end UI, collaborative filtering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</TotalTime>
  <Words>372</Words>
  <Application>Microsoft Office PowerPoint</Application>
  <PresentationFormat>On-screen Show (4:3)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Gill Sans MT</vt:lpstr>
      <vt:lpstr>Gallery</vt:lpstr>
      <vt:lpstr> Job Market Analysis and  Recommendation System</vt:lpstr>
      <vt:lpstr>Project Objectives and Scope</vt:lpstr>
      <vt:lpstr>Technology Stack Overview</vt:lpstr>
      <vt:lpstr>Task 1: Keyword-Salary Correlation</vt:lpstr>
      <vt:lpstr>Task 2: Emerging Job Categories</vt:lpstr>
      <vt:lpstr>Task 3 &amp; 8: Forecasting High-Demand Roles</vt:lpstr>
      <vt:lpstr>Task 4: Global Hourly Rate Comparison</vt:lpstr>
      <vt:lpstr>Task 7: Remote Work Landscape</vt:lpstr>
      <vt:lpstr>Task 5: Job Recommendation Engine</vt:lpstr>
      <vt:lpstr>Task 5 Code View</vt:lpstr>
      <vt:lpstr>Task 6: Job Market Dashboard API</vt:lpstr>
      <vt:lpstr>Docker Strategy</vt:lpstr>
      <vt:lpstr>Deployment Steps</vt:lpstr>
      <vt:lpstr>Deployment Verification</vt:lpstr>
      <vt:lpstr>Conclusion and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Dinesh Chahar</cp:lastModifiedBy>
  <cp:revision>3</cp:revision>
  <dcterms:created xsi:type="dcterms:W3CDTF">2013-01-27T09:14:16Z</dcterms:created>
  <dcterms:modified xsi:type="dcterms:W3CDTF">2025-11-10T18:24:29Z</dcterms:modified>
  <cp:category/>
</cp:coreProperties>
</file>